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59" r:id="rId5"/>
    <p:sldId id="262" r:id="rId6"/>
    <p:sldId id="261" r:id="rId7"/>
    <p:sldId id="278" r:id="rId8"/>
    <p:sldId id="260" r:id="rId9"/>
    <p:sldId id="275" r:id="rId10"/>
    <p:sldId id="276" r:id="rId11"/>
    <p:sldId id="263" r:id="rId12"/>
    <p:sldId id="264" r:id="rId13"/>
    <p:sldId id="270" r:id="rId14"/>
    <p:sldId id="277" r:id="rId15"/>
    <p:sldId id="268" r:id="rId16"/>
    <p:sldId id="279" r:id="rId17"/>
    <p:sldId id="280" r:id="rId18"/>
    <p:sldId id="282" r:id="rId19"/>
    <p:sldId id="281" r:id="rId20"/>
    <p:sldId id="271" r:id="rId21"/>
    <p:sldId id="273" r:id="rId22"/>
    <p:sldId id="284" r:id="rId23"/>
    <p:sldId id="285" r:id="rId24"/>
    <p:sldId id="286" r:id="rId25"/>
    <p:sldId id="287" r:id="rId26"/>
    <p:sldId id="291" r:id="rId27"/>
    <p:sldId id="292" r:id="rId28"/>
    <p:sldId id="290" r:id="rId29"/>
    <p:sldId id="272" r:id="rId30"/>
    <p:sldId id="274" r:id="rId31"/>
    <p:sldId id="298" r:id="rId32"/>
    <p:sldId id="297" r:id="rId33"/>
    <p:sldId id="299" r:id="rId34"/>
    <p:sldId id="301" r:id="rId35"/>
    <p:sldId id="300" r:id="rId36"/>
    <p:sldId id="294" r:id="rId37"/>
    <p:sldId id="293" r:id="rId38"/>
    <p:sldId id="29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159759"/>
    <a:srgbClr val="157C74"/>
    <a:srgbClr val="156091"/>
    <a:srgbClr val="155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06" autoAdjust="0"/>
    <p:restoredTop sz="77913" autoAdjust="0"/>
  </p:normalViewPr>
  <p:slideViewPr>
    <p:cSldViewPr snapToGrid="0">
      <p:cViewPr varScale="1">
        <p:scale>
          <a:sx n="68" d="100"/>
          <a:sy n="68" d="100"/>
        </p:scale>
        <p:origin x="7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05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A1B702-9010-40C8-938E-89EE06511F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E2471-E6E1-43F5-982D-43C3C45D52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4BE2E-BFF8-4FE9-9327-891F1CFF4CB4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56FC-AD25-45B5-BBB1-A172E2567C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369D9-B17A-48D6-8DD0-8959BF103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D67DE-3E71-4C2D-A351-648DB9588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01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23DF8-C0BF-43D6-9391-B58AFED7AB47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6B50A-B042-4304-9121-A03D5248A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2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Yes, it has even more bridges then Venice. Pittsburgh is called the ‘city of bridges’. A good idea might be to invest in civil engineering or bridge service companies in the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48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real estate, everyone is told: location, location, location…. we can test how true that actually is.</a:t>
            </a:r>
          </a:p>
          <a:p>
            <a:endParaRPr lang="en-US" dirty="0"/>
          </a:p>
          <a:p>
            <a:r>
              <a:rPr lang="en-US" dirty="0"/>
              <a:t>Address granularity has a lot of errors and is slow to get information from </a:t>
            </a:r>
            <a:r>
              <a:rPr lang="en-US" dirty="0" err="1"/>
              <a:t>geospacial</a:t>
            </a:r>
            <a:r>
              <a:rPr lang="en-US" dirty="0"/>
              <a:t> database servers. The good APIs for also have an associated cost with it. </a:t>
            </a:r>
            <a:r>
              <a:rPr lang="en-US" dirty="0" err="1"/>
              <a:t>Zipcode</a:t>
            </a:r>
            <a:r>
              <a:rPr lang="en-US" dirty="0"/>
              <a:t> granularity is stored in computer and is quick and offers enough distribution on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2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15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58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52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29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77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 Gini Index is determined by deducting the sum of squared of probabilities of each class from one, mathematically, Gini Index can be expressed as:</a:t>
            </a:r>
          </a:p>
          <a:p>
            <a:pPr algn="l"/>
            <a:r>
              <a:rPr lang="en-US" dirty="0"/>
              <a:t>Gini Index Formula</a:t>
            </a:r>
          </a:p>
          <a:p>
            <a:pPr algn="l"/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Where Pi denotes the probability of an element being classified for a distinct class.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60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43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3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04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34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93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07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6B50A-B042-4304-9121-A03D5248ABB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77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1461-3326-4152-A693-588D1F23A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B6A29-799C-418D-9ED4-FD3BA4F03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C5A9-B80C-4BF4-842A-FA099532B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67E9-D2A7-47EA-8C55-DAB783127A18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7429-8751-4F1B-BB9F-9C768301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34300" y="6356349"/>
            <a:ext cx="4114800" cy="365125"/>
          </a:xfrm>
        </p:spPr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D0DB-512A-4CB5-8184-07107878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11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622020-8C61-4A71-96A3-09E937DD77FE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rgbClr val="156091"/>
              </a:gs>
              <a:gs pos="53000">
                <a:srgbClr val="157C74"/>
              </a:gs>
              <a:gs pos="100000">
                <a:srgbClr val="159759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9FB9A-5DFA-4714-8DA4-42D8860D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60748-5E02-447F-A23D-B6F2A2EB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6F3BA-51D7-46B5-88F7-85BA3FFD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C37F2-384E-4212-9E33-EE17157061DD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2A61C-0900-4D20-B99F-052306E3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EC62A-3CF3-4E45-8BC9-28303D8D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48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D0E8-9845-4136-8125-0FBD3DBF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B185E-7DCE-4AD9-9EA8-86F29E448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9E25-B5E0-48B1-AFEF-DE41B870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8159-FAA4-43BA-99AD-FF0EF45E7A8D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8D8E3-119E-423C-921A-7E6F938C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471FD-FF58-4A51-8F9A-626AFE4E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36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8FE9-2C1F-4F42-BF52-90CBE91F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4EC3F-702E-4A79-955B-A2A2E644C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D1F78-7E09-4EC0-8A43-1BF046CBD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E561D-3298-462C-BD60-6039CB7F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AE1B2-2E05-407B-9681-5075C0587DEC}" type="datetime1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31753-450B-46EA-873E-DCD571D1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AB240-7064-4E55-9A1C-5B168CB1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77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BC352-6321-4732-8978-4BC21D664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D8EC9-651B-4926-887E-1A0788036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7062B-B466-40D7-B81A-07B2126DC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A255-7F3A-4238-9B69-887D8C325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7557C-E71A-44DF-B860-2513696C5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7A16E-96BE-483F-BB69-E45851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ADA03-133A-4DDE-93C7-ECFCF62FD446}" type="datetime1">
              <a:rPr lang="en-US" smtClean="0"/>
              <a:t>2/16/2021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2B80D-D098-4E48-A44B-F810244C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4863B-29A3-4305-9E22-06215611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86FA-FC3F-4DF4-AA36-C5C26DDDF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F8655-7D2E-4A0C-A0AA-EA5E5E58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0CB45-00C9-4D44-9F1F-9F9B6A54BFAD}" type="datetime1">
              <a:rPr lang="en-US" smtClean="0"/>
              <a:t>2/16/2021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45242-068E-4D97-9949-B6A319EE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B7CE7-44D9-4BAE-9DB5-6D3EB2AA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2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5171F-F15D-4027-9574-AF3183D12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38E1-1A3E-42CC-B019-7C08B2239ADB}" type="datetime1">
              <a:rPr lang="en-US" smtClean="0"/>
              <a:t>2/16/2021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13705-90DB-419D-AAE0-1C8231554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52092-82C3-41BC-BCBC-E21D7307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18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BEA2-A70F-49E6-8E5E-A10EFC39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237B-E333-4016-8473-83052E30F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DCB75-A771-4D44-9137-008612C05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935EC-F4FD-4D45-B36A-0F1B9789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9EE2-E5C3-409B-8A6C-5E1B9C80ACB2}" type="datetime1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2621E-638F-40BB-96C8-DEA7B522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FF8F1-8A60-49E5-B32A-4F6467B2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32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FF31-A882-4CE5-9D41-646344EE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9E3E7-9186-49CA-9479-D9A287972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A4E6B-6CEA-44BD-9EC9-ED3E30DF1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E7406-CE03-4FA3-AEBA-8370FEEC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4AF8-E2F1-45B9-A965-3C9ADDE56BD7}" type="datetime1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0D017-FA5F-4408-9A09-D852B025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59369-67DC-45C7-9498-C7DDB4CA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17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EB79-7ED9-415B-AB6A-DE0A0C73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46832-C3C7-4EDA-8940-B7B563AB8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7A4F7-93AE-4FD2-A071-7B1AE130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1AA6-4DC6-4104-87E0-EE409935A038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BC22C-B865-4DAF-AC34-2834A159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6B45-7E9C-4C7D-85F0-97B88F5E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64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E1C5B4-2853-4F53-A85C-8DB1BC86B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5A383-50D4-4812-8BE7-7175830D8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984AA-D7B7-4491-B0F4-9E73876D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29E35-6C24-401D-9983-0880C11C257D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C9F53-F077-4B1A-A2EE-FCC1975D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2271-0589-4E67-A262-2935D085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641D4-1C60-4CAA-BAC5-0333D3E6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04039-0E7C-41EB-A6A9-8AC5AC988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B0D66-BD7F-479C-AA78-1EBB81C02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4D8E8A6A-C73C-46D9-AE04-3D68C8030555}" type="datetime1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667A9-FF53-44B3-8624-1CA3DF56E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0" y="6356350"/>
            <a:ext cx="307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r>
              <a:rPr lang="en-US"/>
              <a:t>http://fer.me/fidelity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58037-4775-4C2F-8AE3-3C58FFFE1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5D7D75C0-E578-49C5-9E26-26C338CB68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8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.fer.me/fidelity-intervie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9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9.svg"/><Relationship Id="rId9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9.svg"/><Relationship Id="rId9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9.sv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.fer.me/fidelity-interview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3B9263-7218-40B6-AE11-BD2F929AA159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gradFill flip="none" rotWithShape="1">
            <a:gsLst>
              <a:gs pos="0">
                <a:srgbClr val="156091"/>
              </a:gs>
              <a:gs pos="53000">
                <a:srgbClr val="157C74"/>
              </a:gs>
              <a:gs pos="100000">
                <a:srgbClr val="159759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EDDEE-2A2C-4A6F-B4B5-E80C6A46A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0700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</a:rPr>
              <a:t>Allegheny County Home Value Index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54FC2-9E61-45AF-BCCE-86223D460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4"/>
            <a:ext cx="9144000" cy="1584325"/>
          </a:xfrm>
        </p:spPr>
        <p:txBody>
          <a:bodyPr/>
          <a:lstStyle/>
          <a:p>
            <a:r>
              <a:rPr lang="en-US" dirty="0">
                <a:latin typeface="Lato" panose="020F0502020204030203" pitchFamily="34" charset="0"/>
              </a:rPr>
              <a:t>For a Fidelity Management and Research Interview</a:t>
            </a:r>
          </a:p>
          <a:p>
            <a:r>
              <a:rPr lang="en-US" i="1" dirty="0">
                <a:latin typeface="Lato" panose="020F0502020204030203" pitchFamily="34" charset="0"/>
              </a:rPr>
              <a:t>Matheus C. Fernandes (PhD Candidate - Harvard University)</a:t>
            </a:r>
          </a:p>
          <a:p>
            <a:r>
              <a:rPr lang="en-US" dirty="0">
                <a:latin typeface="Lato" panose="020F0502020204030203" pitchFamily="34" charset="0"/>
              </a:rPr>
              <a:t>2/11/2021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6AE5A-3C84-4647-8C0B-9DF22E6529DD}"/>
              </a:ext>
            </a:extLst>
          </p:cNvPr>
          <p:cNvSpPr txBox="1"/>
          <p:nvPr/>
        </p:nvSpPr>
        <p:spPr>
          <a:xfrm>
            <a:off x="1960893" y="5967968"/>
            <a:ext cx="827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</a:rPr>
              <a:t>Please find more information and full code at </a:t>
            </a:r>
            <a:r>
              <a:rPr lang="en-US" dirty="0">
                <a:latin typeface="Lato" panose="020F0502020204030203" pitchFamily="34" charset="0"/>
                <a:hlinkClick r:id="rId2"/>
              </a:rPr>
              <a:t>https://git.fer.me/fidelity-interview</a:t>
            </a:r>
            <a:endParaRPr lang="en-US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14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A9302D-4C2D-4DE7-9077-F5984E2C7A61}"/>
              </a:ext>
            </a:extLst>
          </p:cNvPr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rgbClr val="156091"/>
              </a:gs>
              <a:gs pos="53000">
                <a:srgbClr val="157C74"/>
              </a:gs>
              <a:gs pos="100000">
                <a:srgbClr val="159759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1D79F-0276-4ECA-9EDB-27E84E8E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Allegheny County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8DB13-D261-4B04-85F2-34C5B8D6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92" y="1830862"/>
            <a:ext cx="6753141" cy="435133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Located in southwest Pennsylvania</a:t>
            </a:r>
          </a:p>
          <a:p>
            <a:endParaRPr lang="en-US" dirty="0"/>
          </a:p>
          <a:p>
            <a:r>
              <a:rPr lang="en-US" dirty="0"/>
              <a:t>State’s second-most populated county</a:t>
            </a:r>
          </a:p>
          <a:p>
            <a:endParaRPr lang="en-US" dirty="0"/>
          </a:p>
          <a:p>
            <a:r>
              <a:rPr lang="en-US" dirty="0"/>
              <a:t>City of Pittsburgh is in center</a:t>
            </a:r>
          </a:p>
          <a:p>
            <a:endParaRPr lang="en-US" dirty="0"/>
          </a:p>
          <a:p>
            <a:r>
              <a:rPr lang="en-US" dirty="0"/>
              <a:t>With 446 bridges, Pittsburgh has more bridges than any other city in the world*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FFB9B4-8682-4771-9BBF-5F4FBECB2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341" y="2128745"/>
            <a:ext cx="4265438" cy="4193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AF4E58-0B66-40EF-932E-FB89E9A305AE}"/>
              </a:ext>
            </a:extLst>
          </p:cNvPr>
          <p:cNvSpPr txBox="1"/>
          <p:nvPr/>
        </p:nvSpPr>
        <p:spPr>
          <a:xfrm>
            <a:off x="528918" y="6322374"/>
            <a:ext cx="4948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*https://uncoveringpa.com/facts-about-pittsburgh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5A27BF-E844-444A-9B13-CF388F8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D19542-9C0E-414B-8B00-41D0C467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227892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4867-E412-4453-800D-EBFCAE72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Allegheny County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E816-720D-4EDA-A52F-144DCD9E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86 columns (potential features)</a:t>
            </a:r>
          </a:p>
          <a:p>
            <a:endParaRPr lang="en-US" dirty="0"/>
          </a:p>
          <a:p>
            <a:r>
              <a:rPr lang="en-US" dirty="0"/>
              <a:t>580,997 property assessments</a:t>
            </a:r>
          </a:p>
          <a:p>
            <a:endParaRPr lang="en-US" dirty="0"/>
          </a:p>
          <a:p>
            <a:r>
              <a:rPr lang="en-US" dirty="0"/>
              <a:t>Columns contain information on:</a:t>
            </a:r>
          </a:p>
          <a:p>
            <a:pPr lvl="1"/>
            <a:r>
              <a:rPr lang="en-US" dirty="0"/>
              <a:t>Property features: bedrooms, bathrooms, fireplace etc.</a:t>
            </a:r>
          </a:p>
          <a:p>
            <a:pPr lvl="1"/>
            <a:r>
              <a:rPr lang="en-US" dirty="0"/>
              <a:t>Location: physical address and location codes</a:t>
            </a:r>
          </a:p>
          <a:p>
            <a:pPr lvl="1"/>
            <a:r>
              <a:rPr lang="en-US" dirty="0"/>
              <a:t>Different levels of assessment values – county, local for building and land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52920-E284-4F03-AA2D-D70FD1AC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7074-A566-4BA1-ACDF-0029D2A0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1045804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4867-E412-4453-800D-EBFCAE72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Allegheny County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E816-720D-4EDA-A52F-144DCD9E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Has numerical, categorical, and binary variables </a:t>
            </a:r>
          </a:p>
          <a:p>
            <a:endParaRPr lang="en-US" dirty="0"/>
          </a:p>
          <a:p>
            <a:r>
              <a:rPr lang="en-US" dirty="0"/>
              <a:t>Dataset contains repetitive information i.e. descriptions of codes</a:t>
            </a:r>
          </a:p>
          <a:p>
            <a:endParaRPr lang="en-US" dirty="0"/>
          </a:p>
          <a:p>
            <a:r>
              <a:rPr lang="en-US" dirty="0"/>
              <a:t>Contains administrative information i.e. deed recording information and legal descriptions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7ECB-D199-4C21-A2BE-756B42EE6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5692F-CDED-4FB5-871F-A7D9FB06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2562447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49C9-0675-4478-9221-272CA00A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A32D9-75F0-4AF0-9AF9-31083A63B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475" y="3305968"/>
            <a:ext cx="9925050" cy="14351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Develop a monthly “Allegheny County Home Value Index” (HVI) to understand key features of the market.</a:t>
            </a:r>
          </a:p>
          <a:p>
            <a:pPr marL="0" indent="0" algn="ctr">
              <a:buNone/>
            </a:pPr>
            <a:r>
              <a:rPr lang="en-US" b="1" dirty="0"/>
              <a:t>Create model to gain insights for investment opportunities.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74C5F-6A7E-4C11-9B8D-968B5F75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85731-28F1-43A9-8A7F-A2BC7B4E4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464875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A98D-D0DF-4AAE-82F8-AB5611E7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825625"/>
            <a:ext cx="94488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sz="4300" dirty="0"/>
              <a:t>Data Cleaning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Exploratory Data Analysis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Model Exploration and Selection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Computing Home Value Index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4CC93-B2D5-4FE9-BE15-CD711759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Data Science Workflow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00F0E9-7FD3-40A6-86C3-0EE439663D1C}"/>
              </a:ext>
            </a:extLst>
          </p:cNvPr>
          <p:cNvGrpSpPr/>
          <p:nvPr/>
        </p:nvGrpSpPr>
        <p:grpSpPr>
          <a:xfrm>
            <a:off x="761999" y="2103367"/>
            <a:ext cx="773114" cy="773114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E43FC4-FDFE-4D71-8EA2-F04A872DEE12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Graphic 6" descr="Mop and bucket">
              <a:extLst>
                <a:ext uri="{FF2B5EF4-FFF2-40B4-BE49-F238E27FC236}">
                  <a16:creationId xmlns:a16="http://schemas.microsoft.com/office/drawing/2014/main" id="{6B62A17D-9B1D-43D3-BE4C-524F47B7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B04E21-9766-4A16-9D34-7178FB5359F7}"/>
              </a:ext>
            </a:extLst>
          </p:cNvPr>
          <p:cNvGrpSpPr/>
          <p:nvPr/>
        </p:nvGrpSpPr>
        <p:grpSpPr>
          <a:xfrm>
            <a:off x="761999" y="3170967"/>
            <a:ext cx="773114" cy="773114"/>
            <a:chOff x="9309893" y="1493356"/>
            <a:chExt cx="773114" cy="7731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AF3DB8-DC64-4263-ADC9-D3BA1ED8D7A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 descr="Research">
              <a:extLst>
                <a:ext uri="{FF2B5EF4-FFF2-40B4-BE49-F238E27FC236}">
                  <a16:creationId xmlns:a16="http://schemas.microsoft.com/office/drawing/2014/main" id="{EBF90909-F975-4C9C-935E-757C24DCC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4D230C-45B7-4E50-A524-8D88C2B16905}"/>
              </a:ext>
            </a:extLst>
          </p:cNvPr>
          <p:cNvGrpSpPr/>
          <p:nvPr/>
        </p:nvGrpSpPr>
        <p:grpSpPr>
          <a:xfrm>
            <a:off x="761999" y="4238567"/>
            <a:ext cx="773114" cy="807343"/>
            <a:chOff x="10240126" y="2399244"/>
            <a:chExt cx="773114" cy="80734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CAE286-B306-454C-B083-27816A223C13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Programmer">
              <a:extLst>
                <a:ext uri="{FF2B5EF4-FFF2-40B4-BE49-F238E27FC236}">
                  <a16:creationId xmlns:a16="http://schemas.microsoft.com/office/drawing/2014/main" id="{61389AB4-2FE8-4EA2-9602-329187B75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B170EA-D6CD-475F-8A94-59B730806523}"/>
              </a:ext>
            </a:extLst>
          </p:cNvPr>
          <p:cNvGrpSpPr/>
          <p:nvPr/>
        </p:nvGrpSpPr>
        <p:grpSpPr>
          <a:xfrm>
            <a:off x="761999" y="5380031"/>
            <a:ext cx="773114" cy="773114"/>
            <a:chOff x="10087726" y="3460696"/>
            <a:chExt cx="773114" cy="77311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E0DDAC-34B7-46D0-944A-399F1BF9865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Graphic 17" descr="Upward trend">
              <a:extLst>
                <a:ext uri="{FF2B5EF4-FFF2-40B4-BE49-F238E27FC236}">
                  <a16:creationId xmlns:a16="http://schemas.microsoft.com/office/drawing/2014/main" id="{CC838237-0929-4BAE-96E6-8FDD68F76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E6258A9C-9AB5-4639-AED4-73A7756F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6</a:t>
            </a:fld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E8164016-F1F3-4770-AE8E-EB344B77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2512251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Missing Data and Data Types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F30E29-DE90-454C-949A-38E103891410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C9FC6F-2572-420F-A143-3720D1E27124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Mop and bucket">
              <a:extLst>
                <a:ext uri="{FF2B5EF4-FFF2-40B4-BE49-F238E27FC236}">
                  <a16:creationId xmlns:a16="http://schemas.microsoft.com/office/drawing/2014/main" id="{2F3823F8-9C8A-4DEA-9136-0EE5CF183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60CB08-2410-4EDB-BCE7-0FFA2C63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7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863CF09-1B89-4530-B35C-7917D132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9F0310-91FE-431C-ABEB-A8DD8127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2053046"/>
            <a:ext cx="10515600" cy="5504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Removing false data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1C231B-9D67-4572-81ED-2479E05BC4EF}"/>
              </a:ext>
            </a:extLst>
          </p:cNvPr>
          <p:cNvGrpSpPr/>
          <p:nvPr/>
        </p:nvGrpSpPr>
        <p:grpSpPr>
          <a:xfrm>
            <a:off x="5959281" y="3238713"/>
            <a:ext cx="4870837" cy="3180131"/>
            <a:chOff x="5773268" y="3314700"/>
            <a:chExt cx="4870837" cy="3180131"/>
          </a:xfrm>
        </p:grpSpPr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509A9338-BE5B-4CF5-80FF-51FAC959F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1767" y="3314700"/>
              <a:ext cx="4732338" cy="3180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F0AF69-57B4-4F5D-8964-40FC65319D2B}"/>
                </a:ext>
              </a:extLst>
            </p:cNvPr>
            <p:cNvSpPr txBox="1"/>
            <p:nvPr/>
          </p:nvSpPr>
          <p:spPr>
            <a:xfrm rot="16200000">
              <a:off x="5560550" y="4460556"/>
              <a:ext cx="7024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Price [$]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62E870-766C-48EF-89E3-75572E3801B1}"/>
              </a:ext>
            </a:extLst>
          </p:cNvPr>
          <p:cNvGrpSpPr/>
          <p:nvPr/>
        </p:nvGrpSpPr>
        <p:grpSpPr>
          <a:xfrm>
            <a:off x="718204" y="3284221"/>
            <a:ext cx="4643328" cy="3180131"/>
            <a:chOff x="531040" y="3314700"/>
            <a:chExt cx="4913126" cy="3364911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288726C-12B3-4D5D-931C-B96DAD2A87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039" y="3314700"/>
              <a:ext cx="4633828" cy="3178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05C12FC-6325-4D15-A876-B0D000EA4D09}"/>
                </a:ext>
              </a:extLst>
            </p:cNvPr>
            <p:cNvSpPr txBox="1"/>
            <p:nvPr/>
          </p:nvSpPr>
          <p:spPr>
            <a:xfrm rot="16200000">
              <a:off x="318322" y="4385943"/>
              <a:ext cx="7024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Price [$]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8E7054-4478-44A2-8087-77355B83D013}"/>
                </a:ext>
              </a:extLst>
            </p:cNvPr>
            <p:cNvSpPr txBox="1"/>
            <p:nvPr/>
          </p:nvSpPr>
          <p:spPr>
            <a:xfrm>
              <a:off x="2559035" y="6241276"/>
              <a:ext cx="134203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SALEDATE Integers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EAED4B-4469-4A3B-AC4E-4B28637AF866}"/>
                </a:ext>
              </a:extLst>
            </p:cNvPr>
            <p:cNvSpPr/>
            <p:nvPr/>
          </p:nvSpPr>
          <p:spPr>
            <a:xfrm>
              <a:off x="1362869" y="6117006"/>
              <a:ext cx="4078998" cy="363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21" name="Picture 4">
              <a:extLst>
                <a:ext uri="{FF2B5EF4-FFF2-40B4-BE49-F238E27FC236}">
                  <a16:creationId xmlns:a16="http://schemas.microsoft.com/office/drawing/2014/main" id="{F0B7E3DA-FBE2-481F-B028-38B67014FF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691"/>
            <a:stretch/>
          </p:blipFill>
          <p:spPr bwMode="auto">
            <a:xfrm>
              <a:off x="711828" y="6129157"/>
              <a:ext cx="4732338" cy="550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78189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Missing Data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2053046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Remove data missing important information such as: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Sale price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Sale date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Sale price is 0 or unreasonably low (&lt;$1000)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F30E29-DE90-454C-949A-38E103891410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C9FC6F-2572-420F-A143-3720D1E27124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Mop and bucket">
              <a:extLst>
                <a:ext uri="{FF2B5EF4-FFF2-40B4-BE49-F238E27FC236}">
                  <a16:creationId xmlns:a16="http://schemas.microsoft.com/office/drawing/2014/main" id="{2F3823F8-9C8A-4DEA-9136-0EE5CF183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60CB08-2410-4EDB-BCE7-0FFA2C63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8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863CF09-1B89-4530-B35C-7917D132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1600065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Missing Data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2053046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Imputed missing data depending on datatype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Creating a new category of unknown, zero, or </a:t>
            </a:r>
            <a:r>
              <a:rPr lang="en-US" dirty="0" err="1"/>
              <a:t>boolean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Replacing mean of data for continuous variables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Imputing information from different column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F30E29-DE90-454C-949A-38E103891410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C9FC6F-2572-420F-A143-3720D1E27124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Mop and bucket">
              <a:extLst>
                <a:ext uri="{FF2B5EF4-FFF2-40B4-BE49-F238E27FC236}">
                  <a16:creationId xmlns:a16="http://schemas.microsoft.com/office/drawing/2014/main" id="{2F3823F8-9C8A-4DEA-9136-0EE5CF183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BF4A0-0ACB-427B-9915-8CA0897D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F475D-C458-4563-A6DA-B1673824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356490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Missing Data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2053046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Converted variable types to increase bit efficiency </a:t>
            </a:r>
          </a:p>
          <a:p>
            <a:pPr lvl="1"/>
            <a:r>
              <a:rPr lang="en-US" dirty="0"/>
              <a:t>From 64 bit to 32bit and 8 bit</a:t>
            </a:r>
          </a:p>
          <a:p>
            <a:pPr lvl="1"/>
            <a:r>
              <a:rPr lang="en-US" dirty="0"/>
              <a:t>Reduced memory ~380MB to ~120MB without loosing information</a:t>
            </a:r>
          </a:p>
          <a:p>
            <a:endParaRPr lang="en-US" dirty="0"/>
          </a:p>
          <a:p>
            <a:r>
              <a:rPr lang="en-US" dirty="0"/>
              <a:t>Converted date types to numerical</a:t>
            </a:r>
          </a:p>
          <a:p>
            <a:endParaRPr lang="en-US" dirty="0"/>
          </a:p>
          <a:p>
            <a:r>
              <a:rPr lang="en-US" dirty="0"/>
              <a:t>Standardize input data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F30E29-DE90-454C-949A-38E103891410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C9FC6F-2572-420F-A143-3720D1E27124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Mop and bucket">
              <a:extLst>
                <a:ext uri="{FF2B5EF4-FFF2-40B4-BE49-F238E27FC236}">
                  <a16:creationId xmlns:a16="http://schemas.microsoft.com/office/drawing/2014/main" id="{2F3823F8-9C8A-4DEA-9136-0EE5CF183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36CC1-3A38-4172-AD74-108384B1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F6F7-90D9-4D0C-8F76-78863C60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3515357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1900227"/>
            <a:ext cx="10515600" cy="5504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Geolocation Exploration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F30E29-DE90-454C-949A-38E103891410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C9FC6F-2572-420F-A143-3720D1E27124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 descr="Mop and bucket">
              <a:extLst>
                <a:ext uri="{FF2B5EF4-FFF2-40B4-BE49-F238E27FC236}">
                  <a16:creationId xmlns:a16="http://schemas.microsoft.com/office/drawing/2014/main" id="{2F3823F8-9C8A-4DEA-9136-0EE5CF183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9CCF3BD-F92F-4BD0-98CC-5C72FB4B7AB7}"/>
              </a:ext>
            </a:extLst>
          </p:cNvPr>
          <p:cNvGrpSpPr/>
          <p:nvPr/>
        </p:nvGrpSpPr>
        <p:grpSpPr>
          <a:xfrm>
            <a:off x="1362869" y="2847954"/>
            <a:ext cx="9190831" cy="3644921"/>
            <a:chOff x="1362869" y="2847954"/>
            <a:chExt cx="9190831" cy="364492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9539E68-3752-4231-8C4E-29F1725E1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869" y="3210674"/>
              <a:ext cx="3405188" cy="3282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45E4A052-EA03-4A5C-826F-DFD5AB8C9D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8513" y="3210674"/>
              <a:ext cx="3405187" cy="3282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8497E3FE-149A-4F41-BF49-EC0153BBCA2E}"/>
                </a:ext>
              </a:extLst>
            </p:cNvPr>
            <p:cNvSpPr txBox="1">
              <a:spLocks/>
            </p:cNvSpPr>
            <p:nvPr/>
          </p:nvSpPr>
          <p:spPr>
            <a:xfrm>
              <a:off x="1970882" y="2847954"/>
              <a:ext cx="2588418" cy="36272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dirty="0"/>
                <a:t>Address Granularity</a:t>
              </a:r>
            </a:p>
          </p:txBody>
        </p:sp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26620CEC-B591-4223-B43A-724BCEB0F2A1}"/>
                </a:ext>
              </a:extLst>
            </p:cNvPr>
            <p:cNvSpPr txBox="1">
              <a:spLocks/>
            </p:cNvSpPr>
            <p:nvPr/>
          </p:nvSpPr>
          <p:spPr>
            <a:xfrm>
              <a:off x="7810502" y="2847954"/>
              <a:ext cx="2588418" cy="36272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Lato" panose="020F0502020204030203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dirty="0"/>
                <a:t>Zip code Granularity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A5812-1B0E-4E99-9F1B-44C6101D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A1B5E-22AB-4026-8792-0B266F3D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3684932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A98D-D0DF-4AAE-82F8-AB5611E7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825625"/>
            <a:ext cx="94488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sz="4300" dirty="0"/>
              <a:t>Data Cleaning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Exploratory Data Analysis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Model Exploration and Selection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Computing Home Value Index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4CC93-B2D5-4FE9-BE15-CD711759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Data Science Workflow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00F0E9-7FD3-40A6-86C3-0EE439663D1C}"/>
              </a:ext>
            </a:extLst>
          </p:cNvPr>
          <p:cNvGrpSpPr/>
          <p:nvPr/>
        </p:nvGrpSpPr>
        <p:grpSpPr>
          <a:xfrm>
            <a:off x="761999" y="2103367"/>
            <a:ext cx="773114" cy="773114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E43FC4-FDFE-4D71-8EA2-F04A872DEE12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Graphic 6" descr="Mop and bucket">
              <a:extLst>
                <a:ext uri="{FF2B5EF4-FFF2-40B4-BE49-F238E27FC236}">
                  <a16:creationId xmlns:a16="http://schemas.microsoft.com/office/drawing/2014/main" id="{6B62A17D-9B1D-43D3-BE4C-524F47B7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B04E21-9766-4A16-9D34-7178FB5359F7}"/>
              </a:ext>
            </a:extLst>
          </p:cNvPr>
          <p:cNvGrpSpPr/>
          <p:nvPr/>
        </p:nvGrpSpPr>
        <p:grpSpPr>
          <a:xfrm>
            <a:off x="761999" y="3170967"/>
            <a:ext cx="773114" cy="773114"/>
            <a:chOff x="9309893" y="1493356"/>
            <a:chExt cx="773114" cy="7731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AF3DB8-DC64-4263-ADC9-D3BA1ED8D7A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 descr="Research">
              <a:extLst>
                <a:ext uri="{FF2B5EF4-FFF2-40B4-BE49-F238E27FC236}">
                  <a16:creationId xmlns:a16="http://schemas.microsoft.com/office/drawing/2014/main" id="{EBF90909-F975-4C9C-935E-757C24DCC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4D230C-45B7-4E50-A524-8D88C2B16905}"/>
              </a:ext>
            </a:extLst>
          </p:cNvPr>
          <p:cNvGrpSpPr/>
          <p:nvPr/>
        </p:nvGrpSpPr>
        <p:grpSpPr>
          <a:xfrm>
            <a:off x="761999" y="4238567"/>
            <a:ext cx="773114" cy="807343"/>
            <a:chOff x="10240126" y="2399244"/>
            <a:chExt cx="773114" cy="80734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CAE286-B306-454C-B083-27816A223C13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Programmer">
              <a:extLst>
                <a:ext uri="{FF2B5EF4-FFF2-40B4-BE49-F238E27FC236}">
                  <a16:creationId xmlns:a16="http://schemas.microsoft.com/office/drawing/2014/main" id="{61389AB4-2FE8-4EA2-9602-329187B75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B170EA-D6CD-475F-8A94-59B730806523}"/>
              </a:ext>
            </a:extLst>
          </p:cNvPr>
          <p:cNvGrpSpPr/>
          <p:nvPr/>
        </p:nvGrpSpPr>
        <p:grpSpPr>
          <a:xfrm>
            <a:off x="761999" y="5380031"/>
            <a:ext cx="773114" cy="773114"/>
            <a:chOff x="10087726" y="3460696"/>
            <a:chExt cx="773114" cy="77311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E0DDAC-34B7-46D0-944A-399F1BF9865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Graphic 17" descr="Upward trend">
              <a:extLst>
                <a:ext uri="{FF2B5EF4-FFF2-40B4-BE49-F238E27FC236}">
                  <a16:creationId xmlns:a16="http://schemas.microsoft.com/office/drawing/2014/main" id="{CC838237-0929-4BAE-96E6-8FDD68F76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B5444-746A-434A-82A0-BEC93EF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7C891-4C7D-4CF2-A406-665133C5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351406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B13E95-AF69-489A-B301-EBBB33616B31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9309893" y="1493356"/>
            <a:chExt cx="773114" cy="77311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DFF00C-6B5B-4EE9-8A7B-8A24D9E2119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 descr="Research">
              <a:extLst>
                <a:ext uri="{FF2B5EF4-FFF2-40B4-BE49-F238E27FC236}">
                  <a16:creationId xmlns:a16="http://schemas.microsoft.com/office/drawing/2014/main" id="{3B5C0D8F-560E-431D-8B75-C8923918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Martingale?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9DA6A-DE7C-48E9-A3DA-6774BE71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9BCBD-2132-432E-A127-362A385C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6677B18-B76C-4482-A4C7-164A0318E261}"/>
              </a:ext>
            </a:extLst>
          </p:cNvPr>
          <p:cNvSpPr txBox="1">
            <a:spLocks/>
          </p:cNvSpPr>
          <p:nvPr/>
        </p:nvSpPr>
        <p:spPr>
          <a:xfrm>
            <a:off x="633386" y="1976806"/>
            <a:ext cx="10515600" cy="550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Is housing prices in Allegheny county a martingale?</a:t>
            </a:r>
            <a:endParaRPr lang="en-US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E5130C8-C7C2-49D3-8240-41FA98E6B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3153592"/>
            <a:ext cx="4838700" cy="3084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D0EFC76-579C-4AA4-A140-E701D68B8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86" y="2964534"/>
            <a:ext cx="4098872" cy="1261694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8E8D6E2-4E21-427A-A5E8-6BFE1522385E}"/>
              </a:ext>
            </a:extLst>
          </p:cNvPr>
          <p:cNvSpPr txBox="1">
            <a:spLocks/>
          </p:cNvSpPr>
          <p:nvPr/>
        </p:nvSpPr>
        <p:spPr>
          <a:xfrm>
            <a:off x="633386" y="4467327"/>
            <a:ext cx="4838700" cy="114607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By fitting an exponential line, we see that the expectation follows an exponential growth.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D3A88A-6876-4442-B843-B34D5EF604EF}"/>
                  </a:ext>
                </a:extLst>
              </p:cNvPr>
              <p:cNvSpPr txBox="1"/>
              <p:nvPr/>
            </p:nvSpPr>
            <p:spPr>
              <a:xfrm>
                <a:off x="7532979" y="4467327"/>
                <a:ext cx="1450243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8D3A88A-6876-4442-B843-B34D5EF60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979" y="4467327"/>
                <a:ext cx="1450243" cy="375872"/>
              </a:xfrm>
              <a:prstGeom prst="rect">
                <a:avLst/>
              </a:prstGeom>
              <a:blipFill>
                <a:blip r:embed="rId6"/>
                <a:stretch>
                  <a:fillRect t="-3279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980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B13E95-AF69-489A-B301-EBBB33616B31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9309893" y="1493356"/>
            <a:chExt cx="773114" cy="77311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DFF00C-6B5B-4EE9-8A7B-8A24D9E2119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 descr="Research">
              <a:extLst>
                <a:ext uri="{FF2B5EF4-FFF2-40B4-BE49-F238E27FC236}">
                  <a16:creationId xmlns:a16="http://schemas.microsoft.com/office/drawing/2014/main" id="{3B5C0D8F-560E-431D-8B75-C8923918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386" y="1976805"/>
            <a:ext cx="5327902" cy="43187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Correlation Matrix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Provides information on correlation of variables</a:t>
            </a:r>
          </a:p>
          <a:p>
            <a:endParaRPr lang="en-US" dirty="0"/>
          </a:p>
          <a:p>
            <a:r>
              <a:rPr lang="en-US" dirty="0"/>
              <a:t>No correlation does not mean no useful information</a:t>
            </a:r>
          </a:p>
          <a:p>
            <a:endParaRPr lang="en-US" dirty="0"/>
          </a:p>
          <a:p>
            <a:r>
              <a:rPr lang="en-US" dirty="0"/>
              <a:t>High correlation between variables means potential redundancy between those variables.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E9D4A53-CBE6-4204-9A12-1F27A0801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712" y="2527260"/>
            <a:ext cx="5327902" cy="404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9DA6A-DE7C-48E9-A3DA-6774BE71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9BCBD-2132-432E-A127-362A385C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18162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B13E95-AF69-489A-B301-EBBB33616B31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9309893" y="1493356"/>
            <a:chExt cx="773114" cy="77311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DFF00C-6B5B-4EE9-8A7B-8A24D9E2119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 descr="Research">
              <a:extLst>
                <a:ext uri="{FF2B5EF4-FFF2-40B4-BE49-F238E27FC236}">
                  <a16:creationId xmlns:a16="http://schemas.microsoft.com/office/drawing/2014/main" id="{3B5C0D8F-560E-431D-8B75-C8923918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Exploratory Data Analysis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E2EBCC7-D7E2-4621-AEBC-3ACA0F251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106240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B5FA-4EE8-4A97-B494-53826909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0FE0-9E44-46DD-AB88-CDFD2C0C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2B805-02FE-4D9C-BFF1-DE3875F85DDF}"/>
              </a:ext>
            </a:extLst>
          </p:cNvPr>
          <p:cNvSpPr txBox="1">
            <a:spLocks/>
          </p:cNvSpPr>
          <p:nvPr/>
        </p:nvSpPr>
        <p:spPr>
          <a:xfrm>
            <a:off x="508000" y="2106240"/>
            <a:ext cx="6228290" cy="4318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 deeper dive into the data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How does each variable depends on the other</a:t>
            </a:r>
          </a:p>
          <a:p>
            <a:endParaRPr lang="en-US" dirty="0"/>
          </a:p>
          <a:p>
            <a:r>
              <a:rPr lang="en-US" dirty="0"/>
              <a:t>Look for trends in the data</a:t>
            </a:r>
          </a:p>
          <a:p>
            <a:endParaRPr lang="en-US" dirty="0"/>
          </a:p>
          <a:p>
            <a:r>
              <a:rPr lang="en-US" dirty="0"/>
              <a:t>How does property sale price depends on each feature</a:t>
            </a:r>
          </a:p>
        </p:txBody>
      </p:sp>
    </p:spTree>
    <p:extLst>
      <p:ext uri="{BB962C8B-B14F-4D97-AF65-F5344CB8AC3E}">
        <p14:creationId xmlns:p14="http://schemas.microsoft.com/office/powerpoint/2010/main" val="556748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B13E95-AF69-489A-B301-EBBB33616B31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9309893" y="1493356"/>
            <a:chExt cx="773114" cy="77311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DFF00C-6B5B-4EE9-8A7B-8A24D9E2119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 descr="Research">
              <a:extLst>
                <a:ext uri="{FF2B5EF4-FFF2-40B4-BE49-F238E27FC236}">
                  <a16:creationId xmlns:a16="http://schemas.microsoft.com/office/drawing/2014/main" id="{3B5C0D8F-560E-431D-8B75-C8923918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Exploratory Data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B5FA-4EE8-4A97-B494-53826909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0FE0-9E44-46DD-AB88-CDFD2C0C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2B805-02FE-4D9C-BFF1-DE3875F85DDF}"/>
              </a:ext>
            </a:extLst>
          </p:cNvPr>
          <p:cNvSpPr txBox="1">
            <a:spLocks/>
          </p:cNvSpPr>
          <p:nvPr/>
        </p:nvSpPr>
        <p:spPr>
          <a:xfrm>
            <a:off x="508000" y="2106241"/>
            <a:ext cx="9906000" cy="636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How do house properties impact pricing?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AE01507-B2D6-4831-8A28-CE0ED561B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75" y="3346488"/>
            <a:ext cx="84391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840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B13E95-AF69-489A-B301-EBBB33616B31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9309893" y="1493356"/>
            <a:chExt cx="773114" cy="77311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DFF00C-6B5B-4EE9-8A7B-8A24D9E2119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 descr="Research">
              <a:extLst>
                <a:ext uri="{FF2B5EF4-FFF2-40B4-BE49-F238E27FC236}">
                  <a16:creationId xmlns:a16="http://schemas.microsoft.com/office/drawing/2014/main" id="{3B5C0D8F-560E-431D-8B75-C8923918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Exploratory Data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B5FA-4EE8-4A97-B494-53826909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0FE0-9E44-46DD-AB88-CDFD2C0C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2B805-02FE-4D9C-BFF1-DE3875F85DDF}"/>
              </a:ext>
            </a:extLst>
          </p:cNvPr>
          <p:cNvSpPr txBox="1">
            <a:spLocks/>
          </p:cNvSpPr>
          <p:nvPr/>
        </p:nvSpPr>
        <p:spPr>
          <a:xfrm>
            <a:off x="508000" y="2106241"/>
            <a:ext cx="9906000" cy="636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How does location of properties impact pricing?</a:t>
            </a:r>
            <a:endParaRPr lang="en-US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6A4F3EFC-C5BF-4D03-92D4-5FE9A8C44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143" y="3429000"/>
            <a:ext cx="4557713" cy="229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183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B13E95-AF69-489A-B301-EBBB33616B31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9309893" y="1493356"/>
            <a:chExt cx="773114" cy="77311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DFF00C-6B5B-4EE9-8A7B-8A24D9E2119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 descr="Research">
              <a:extLst>
                <a:ext uri="{FF2B5EF4-FFF2-40B4-BE49-F238E27FC236}">
                  <a16:creationId xmlns:a16="http://schemas.microsoft.com/office/drawing/2014/main" id="{3B5C0D8F-560E-431D-8B75-C8923918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Exploratory Data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B5FA-4EE8-4A97-B494-53826909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0FE0-9E44-46DD-AB88-CDFD2C0C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2B805-02FE-4D9C-BFF1-DE3875F85DDF}"/>
              </a:ext>
            </a:extLst>
          </p:cNvPr>
          <p:cNvSpPr txBox="1">
            <a:spLocks/>
          </p:cNvSpPr>
          <p:nvPr/>
        </p:nvSpPr>
        <p:spPr>
          <a:xfrm>
            <a:off x="422328" y="2019880"/>
            <a:ext cx="9906000" cy="6369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What is the distribution of the data across different locations?</a:t>
            </a:r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F8A37AC-79FC-4E19-B70E-63DEC96B8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3158754"/>
            <a:ext cx="11353800" cy="237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B198E902-A022-4501-BEEF-66B1A6A4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2231" y="2714499"/>
            <a:ext cx="1451769" cy="2154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15237.0 13195 15108.0 12371 15235.0 11500 15212.0 10138 15221.0 9421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15083.0 19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15321.0 18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15012.0 12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16229.0 12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16056.0 2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Name: PROPERTYZIP, Length: 116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21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2B13E95-AF69-489A-B301-EBBB33616B31}"/>
              </a:ext>
            </a:extLst>
          </p:cNvPr>
          <p:cNvGrpSpPr/>
          <p:nvPr/>
        </p:nvGrpSpPr>
        <p:grpSpPr>
          <a:xfrm>
            <a:off x="313531" y="453616"/>
            <a:ext cx="1049338" cy="1049338"/>
            <a:chOff x="9309893" y="1493356"/>
            <a:chExt cx="773114" cy="77311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DFF00C-6B5B-4EE9-8A7B-8A24D9E2119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 descr="Research">
              <a:extLst>
                <a:ext uri="{FF2B5EF4-FFF2-40B4-BE49-F238E27FC236}">
                  <a16:creationId xmlns:a16="http://schemas.microsoft.com/office/drawing/2014/main" id="{3B5C0D8F-560E-431D-8B75-C89239184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Exploratory Data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B5FA-4EE8-4A97-B494-53826909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0FE0-9E44-46DD-AB88-CDFD2C0CC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2B805-02FE-4D9C-BFF1-DE3875F85DDF}"/>
              </a:ext>
            </a:extLst>
          </p:cNvPr>
          <p:cNvSpPr txBox="1">
            <a:spLocks/>
          </p:cNvSpPr>
          <p:nvPr/>
        </p:nvSpPr>
        <p:spPr>
          <a:xfrm>
            <a:off x="508000" y="2106241"/>
            <a:ext cx="9906000" cy="636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How do the assessments impact pricing?</a:t>
            </a:r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6F927E6-15B7-477D-949C-92ACDDD53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695" y="3346488"/>
            <a:ext cx="6900609" cy="233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15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A98D-D0DF-4AAE-82F8-AB5611E7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825625"/>
            <a:ext cx="94488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sz="4300" dirty="0"/>
              <a:t>Data Cleaning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Exploratory Data Analysis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Model Exploration and Selection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Computing Home Value Index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4CC93-B2D5-4FE9-BE15-CD711759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Data Science Workflow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00F0E9-7FD3-40A6-86C3-0EE439663D1C}"/>
              </a:ext>
            </a:extLst>
          </p:cNvPr>
          <p:cNvGrpSpPr/>
          <p:nvPr/>
        </p:nvGrpSpPr>
        <p:grpSpPr>
          <a:xfrm>
            <a:off x="761999" y="2103367"/>
            <a:ext cx="773114" cy="773114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E43FC4-FDFE-4D71-8EA2-F04A872DEE12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Graphic 6" descr="Mop and bucket">
              <a:extLst>
                <a:ext uri="{FF2B5EF4-FFF2-40B4-BE49-F238E27FC236}">
                  <a16:creationId xmlns:a16="http://schemas.microsoft.com/office/drawing/2014/main" id="{6B62A17D-9B1D-43D3-BE4C-524F47B7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B04E21-9766-4A16-9D34-7178FB5359F7}"/>
              </a:ext>
            </a:extLst>
          </p:cNvPr>
          <p:cNvGrpSpPr/>
          <p:nvPr/>
        </p:nvGrpSpPr>
        <p:grpSpPr>
          <a:xfrm>
            <a:off x="761999" y="3170967"/>
            <a:ext cx="773114" cy="773114"/>
            <a:chOff x="9309893" y="1493356"/>
            <a:chExt cx="773114" cy="7731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AF3DB8-DC64-4263-ADC9-D3BA1ED8D7A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 descr="Research">
              <a:extLst>
                <a:ext uri="{FF2B5EF4-FFF2-40B4-BE49-F238E27FC236}">
                  <a16:creationId xmlns:a16="http://schemas.microsoft.com/office/drawing/2014/main" id="{EBF90909-F975-4C9C-935E-757C24DCC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4D230C-45B7-4E50-A524-8D88C2B16905}"/>
              </a:ext>
            </a:extLst>
          </p:cNvPr>
          <p:cNvGrpSpPr/>
          <p:nvPr/>
        </p:nvGrpSpPr>
        <p:grpSpPr>
          <a:xfrm>
            <a:off x="761999" y="4238567"/>
            <a:ext cx="773114" cy="807343"/>
            <a:chOff x="10240126" y="2399244"/>
            <a:chExt cx="773114" cy="80734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CAE286-B306-454C-B083-27816A223C13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Programmer">
              <a:extLst>
                <a:ext uri="{FF2B5EF4-FFF2-40B4-BE49-F238E27FC236}">
                  <a16:creationId xmlns:a16="http://schemas.microsoft.com/office/drawing/2014/main" id="{61389AB4-2FE8-4EA2-9602-329187B75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B170EA-D6CD-475F-8A94-59B730806523}"/>
              </a:ext>
            </a:extLst>
          </p:cNvPr>
          <p:cNvGrpSpPr/>
          <p:nvPr/>
        </p:nvGrpSpPr>
        <p:grpSpPr>
          <a:xfrm>
            <a:off x="761999" y="5380031"/>
            <a:ext cx="773114" cy="773114"/>
            <a:chOff x="10087726" y="3460696"/>
            <a:chExt cx="773114" cy="77311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E0DDAC-34B7-46D0-944A-399F1BF9865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Graphic 17" descr="Upward trend">
              <a:extLst>
                <a:ext uri="{FF2B5EF4-FFF2-40B4-BE49-F238E27FC236}">
                  <a16:creationId xmlns:a16="http://schemas.microsoft.com/office/drawing/2014/main" id="{CC838237-0929-4BAE-96E6-8FDD68F76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67457-E338-4E4F-BFB3-C6798FC3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E79FA-DC69-4013-8C6F-F9DDC62C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2650222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Model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9" y="2053046"/>
            <a:ext cx="9288461" cy="4303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 Goal: </a:t>
            </a:r>
            <a:r>
              <a:rPr lang="en-US" dirty="0"/>
              <a:t>Predict valuation of existing homes for a variable sale date.  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Target variable:</a:t>
            </a:r>
            <a:r>
              <a:rPr lang="en-US" dirty="0"/>
              <a:t> Sale Price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Input variables: </a:t>
            </a:r>
            <a:r>
              <a:rPr lang="en-US" dirty="0"/>
              <a:t>Sale date and important features that provide information on the valuation of a property at a certain date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1171439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Model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9" y="2053046"/>
            <a:ext cx="9288461" cy="43033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Model Assumptions: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No information on the buyers side (demand)</a:t>
            </a:r>
          </a:p>
          <a:p>
            <a:r>
              <a:rPr lang="en-US" dirty="0"/>
              <a:t>No listing prices or spread of ask/bid</a:t>
            </a:r>
          </a:p>
          <a:p>
            <a:r>
              <a:rPr lang="en-US" dirty="0"/>
              <a:t>No information on interest rates</a:t>
            </a:r>
          </a:p>
          <a:p>
            <a:r>
              <a:rPr lang="en-US" dirty="0"/>
              <a:t>No demographic information</a:t>
            </a:r>
          </a:p>
          <a:p>
            <a:r>
              <a:rPr lang="en-US" dirty="0"/>
              <a:t>No information on the economy</a:t>
            </a:r>
          </a:p>
          <a:p>
            <a:r>
              <a:rPr lang="en-US" dirty="0"/>
              <a:t>No refined information on location</a:t>
            </a:r>
          </a:p>
          <a:p>
            <a:r>
              <a:rPr lang="en-US" dirty="0"/>
              <a:t>Based on assessments only from 2021 (dataset)</a:t>
            </a:r>
          </a:p>
          <a:p>
            <a:r>
              <a:rPr lang="en-US" dirty="0"/>
              <a:t>Discrete daily sampling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2851820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Model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9" y="2053046"/>
            <a:ext cx="10515600" cy="43033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Seek these regression model characteristics: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Deal with sparse data</a:t>
            </a:r>
          </a:p>
          <a:p>
            <a:endParaRPr lang="en-US" dirty="0"/>
          </a:p>
          <a:p>
            <a:r>
              <a:rPr lang="en-US" dirty="0"/>
              <a:t>Good for dealing with categorical and numerical data</a:t>
            </a:r>
          </a:p>
          <a:p>
            <a:endParaRPr lang="en-US" dirty="0"/>
          </a:p>
          <a:p>
            <a:r>
              <a:rPr lang="en-US" dirty="0"/>
              <a:t>Efficient at training (limited computational resources on my end)</a:t>
            </a:r>
          </a:p>
          <a:p>
            <a:endParaRPr lang="en-US" dirty="0"/>
          </a:p>
          <a:p>
            <a:r>
              <a:rPr lang="en-US" dirty="0"/>
              <a:t>Scalable to potentially adding more data in the future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341003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Model Choices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43996DF-B293-42F1-A071-DCF91C069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583398"/>
              </p:ext>
            </p:extLst>
          </p:nvPr>
        </p:nvGraphicFramePr>
        <p:xfrm>
          <a:off x="1130300" y="2435225"/>
          <a:ext cx="937672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428">
                  <a:extLst>
                    <a:ext uri="{9D8B030D-6E8A-4147-A177-3AD203B41FA5}">
                      <a16:colId xmlns:a16="http://schemas.microsoft.com/office/drawing/2014/main" val="1838625894"/>
                    </a:ext>
                  </a:extLst>
                </a:gridCol>
                <a:gridCol w="2789872">
                  <a:extLst>
                    <a:ext uri="{9D8B030D-6E8A-4147-A177-3AD203B41FA5}">
                      <a16:colId xmlns:a16="http://schemas.microsoft.com/office/drawing/2014/main" val="3341543739"/>
                    </a:ext>
                  </a:extLst>
                </a:gridCol>
                <a:gridCol w="2404425">
                  <a:extLst>
                    <a:ext uri="{9D8B030D-6E8A-4147-A177-3AD203B41FA5}">
                      <a16:colId xmlns:a16="http://schemas.microsoft.com/office/drawing/2014/main" val="316216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056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Model: </a:t>
                      </a:r>
                      <a:r>
                        <a:rPr lang="en-US" dirty="0" err="1"/>
                        <a:t>LassoCV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6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791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Ensemble: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07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Ensemble: Bagging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4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Ensemble: Adaptive Boosting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05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Ensemble: Extreme 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74786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4119132-E52D-4DEE-B50D-C5D4947114F5}"/>
              </a:ext>
            </a:extLst>
          </p:cNvPr>
          <p:cNvSpPr txBox="1"/>
          <p:nvPr/>
        </p:nvSpPr>
        <p:spPr>
          <a:xfrm>
            <a:off x="1778864" y="5802232"/>
            <a:ext cx="8320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*Scores are measured using R2 Score: 1-(sum of square residuals/total sum of squares)</a:t>
            </a:r>
          </a:p>
          <a:p>
            <a:r>
              <a:rPr lang="en-US" dirty="0"/>
              <a:t>SD = sampled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05137-2176-41C5-9827-5AC03B932208}"/>
              </a:ext>
            </a:extLst>
          </p:cNvPr>
          <p:cNvSpPr/>
          <p:nvPr/>
        </p:nvSpPr>
        <p:spPr>
          <a:xfrm>
            <a:off x="1130300" y="4660900"/>
            <a:ext cx="9376725" cy="370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5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What is </a:t>
            </a:r>
            <a:r>
              <a:rPr lang="en-US" dirty="0" err="1"/>
              <a:t>XGBoost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05B202E-AEAD-4E6E-943E-66960961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9" y="2053046"/>
            <a:ext cx="10515600" cy="4303304"/>
          </a:xfrm>
        </p:spPr>
        <p:txBody>
          <a:bodyPr>
            <a:normAutofit/>
          </a:bodyPr>
          <a:lstStyle/>
          <a:p>
            <a:r>
              <a:rPr lang="en-US" dirty="0"/>
              <a:t>Decision-tree-based ensemble model</a:t>
            </a:r>
          </a:p>
          <a:p>
            <a:endParaRPr lang="en-US" dirty="0"/>
          </a:p>
          <a:p>
            <a:r>
              <a:rPr lang="en-US" dirty="0"/>
              <a:t>Uses gradient boosting framework</a:t>
            </a:r>
          </a:p>
          <a:p>
            <a:pPr lvl="1"/>
            <a:r>
              <a:rPr lang="en-US" dirty="0"/>
              <a:t>Converting weak to strong learner through sequential learning</a:t>
            </a:r>
          </a:p>
          <a:p>
            <a:pPr lvl="1"/>
            <a:r>
              <a:rPr lang="en-US" dirty="0"/>
              <a:t>Gradient descent algorithm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Great for small-to-medium structured/tabular data</a:t>
            </a:r>
          </a:p>
          <a:p>
            <a:endParaRPr lang="en-US" dirty="0"/>
          </a:p>
          <a:p>
            <a:r>
              <a:rPr lang="en-US" dirty="0"/>
              <a:t>Boosting optimized for software and hardware parallelization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88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4EDF5-7BAA-4BA6-9BF0-DE5CE615C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1786"/>
            <a:ext cx="602932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Feature Importance</a:t>
            </a:r>
          </a:p>
          <a:p>
            <a:endParaRPr lang="en-US" dirty="0"/>
          </a:p>
          <a:p>
            <a:r>
              <a:rPr lang="en-US" dirty="0"/>
              <a:t>Based on Gini importance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higher the importance the more crucial it is for prediction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Another Level of Feature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DEFCAE3-6363-43DA-846E-07318AF22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5" y="1991763"/>
            <a:ext cx="4283075" cy="436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67068E-E5A0-43D7-8DB0-67CC6AF83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400" y="3821830"/>
            <a:ext cx="4210638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30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4EDF5-7BAA-4BA6-9BF0-DE5CE615C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690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Permutation Importance</a:t>
            </a:r>
          </a:p>
          <a:p>
            <a:endParaRPr lang="en-US" dirty="0"/>
          </a:p>
          <a:p>
            <a:r>
              <a:rPr lang="en-US" dirty="0"/>
              <a:t>Compute score of model</a:t>
            </a:r>
          </a:p>
          <a:p>
            <a:endParaRPr lang="en-US" dirty="0"/>
          </a:p>
          <a:p>
            <a:r>
              <a:rPr lang="en-US" dirty="0"/>
              <a:t>For each feature shuffle column and compute score for corrupted dataset</a:t>
            </a:r>
          </a:p>
          <a:p>
            <a:endParaRPr lang="en-US" dirty="0"/>
          </a:p>
          <a:p>
            <a:r>
              <a:rPr lang="en-US" dirty="0"/>
              <a:t>The higher the importance the more crucial a particular feature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Another Level of Feature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103F8E5-02C9-C54C-B194-E3CB75D02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6" y="1989661"/>
            <a:ext cx="4289546" cy="4371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292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4EDF5-7BAA-4BA6-9BF0-DE5CE615C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1825625"/>
            <a:ext cx="6629400" cy="48958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computational efficiency, only tuned 1 param – number of estimators</a:t>
            </a:r>
          </a:p>
          <a:p>
            <a:endParaRPr lang="en-US" dirty="0"/>
          </a:p>
          <a:p>
            <a:r>
              <a:rPr lang="en-US" dirty="0"/>
              <a:t>Use cross-validation with 4-way split</a:t>
            </a:r>
          </a:p>
          <a:p>
            <a:endParaRPr lang="en-US" dirty="0"/>
          </a:p>
          <a:p>
            <a:r>
              <a:rPr lang="en-US" dirty="0"/>
              <a:t>A bias-variance balance is obtained at n=110, with underfitting before and overfitting after</a:t>
            </a:r>
          </a:p>
          <a:p>
            <a:endParaRPr lang="en-US" dirty="0"/>
          </a:p>
          <a:p>
            <a:r>
              <a:rPr lang="en-US" dirty="0"/>
              <a:t>As n increases computational time increases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C62330-B2F7-4A8F-AF82-3DED4E7F2750}"/>
              </a:ext>
            </a:extLst>
          </p:cNvPr>
          <p:cNvGrpSpPr/>
          <p:nvPr/>
        </p:nvGrpSpPr>
        <p:grpSpPr>
          <a:xfrm>
            <a:off x="322546" y="440387"/>
            <a:ext cx="1004849" cy="1049338"/>
            <a:chOff x="10240126" y="2399244"/>
            <a:chExt cx="773114" cy="80734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722709-2A01-409B-AE11-700B8D322CD0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Programmer">
              <a:extLst>
                <a:ext uri="{FF2B5EF4-FFF2-40B4-BE49-F238E27FC236}">
                  <a16:creationId xmlns:a16="http://schemas.microsoft.com/office/drawing/2014/main" id="{FB434A9B-43A6-437E-853B-9971C40F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</a:t>
            </a:r>
            <a:r>
              <a:rPr lang="en-US" dirty="0" err="1"/>
              <a:t>XGBoost</a:t>
            </a:r>
            <a:r>
              <a:rPr lang="en-US" dirty="0"/>
              <a:t> Hyperparameter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D2DD-C1E1-4F9F-8AC1-1F18E74F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A936-CE59-49CB-B1AC-209A0B06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7DAE13A-1FE0-491A-BA3C-F58CA8E86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899" y="2011363"/>
            <a:ext cx="3827101" cy="415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415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A98D-D0DF-4AAE-82F8-AB5611E7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825625"/>
            <a:ext cx="94488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sz="4300" dirty="0"/>
              <a:t>Data Cleaning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Exploratory Data Analysis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Model Exploration and Selection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Computing Home Value Index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4CC93-B2D5-4FE9-BE15-CD711759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Data Science Workflow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00F0E9-7FD3-40A6-86C3-0EE439663D1C}"/>
              </a:ext>
            </a:extLst>
          </p:cNvPr>
          <p:cNvGrpSpPr/>
          <p:nvPr/>
        </p:nvGrpSpPr>
        <p:grpSpPr>
          <a:xfrm>
            <a:off x="761999" y="2103367"/>
            <a:ext cx="773114" cy="773114"/>
            <a:chOff x="5909468" y="1902421"/>
            <a:chExt cx="1325564" cy="1325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E43FC4-FDFE-4D71-8EA2-F04A872DEE12}"/>
                </a:ext>
              </a:extLst>
            </p:cNvPr>
            <p:cNvSpPr/>
            <p:nvPr/>
          </p:nvSpPr>
          <p:spPr>
            <a:xfrm>
              <a:off x="5909468" y="1902421"/>
              <a:ext cx="1325564" cy="13255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Graphic 6" descr="Mop and bucket">
              <a:extLst>
                <a:ext uri="{FF2B5EF4-FFF2-40B4-BE49-F238E27FC236}">
                  <a16:creationId xmlns:a16="http://schemas.microsoft.com/office/drawing/2014/main" id="{6B62A17D-9B1D-43D3-BE4C-524F47B7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76950" y="2069903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B04E21-9766-4A16-9D34-7178FB5359F7}"/>
              </a:ext>
            </a:extLst>
          </p:cNvPr>
          <p:cNvGrpSpPr/>
          <p:nvPr/>
        </p:nvGrpSpPr>
        <p:grpSpPr>
          <a:xfrm>
            <a:off x="761999" y="3170967"/>
            <a:ext cx="773114" cy="773114"/>
            <a:chOff x="9309893" y="1493356"/>
            <a:chExt cx="773114" cy="7731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AF3DB8-DC64-4263-ADC9-D3BA1ED8D7A6}"/>
                </a:ext>
              </a:extLst>
            </p:cNvPr>
            <p:cNvSpPr/>
            <p:nvPr/>
          </p:nvSpPr>
          <p:spPr>
            <a:xfrm>
              <a:off x="9309893" y="149335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 descr="Research">
              <a:extLst>
                <a:ext uri="{FF2B5EF4-FFF2-40B4-BE49-F238E27FC236}">
                  <a16:creationId xmlns:a16="http://schemas.microsoft.com/office/drawing/2014/main" id="{EBF90909-F975-4C9C-935E-757C24DCC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90051" y="1573514"/>
              <a:ext cx="593306" cy="59330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A4D230C-45B7-4E50-A524-8D88C2B16905}"/>
              </a:ext>
            </a:extLst>
          </p:cNvPr>
          <p:cNvGrpSpPr/>
          <p:nvPr/>
        </p:nvGrpSpPr>
        <p:grpSpPr>
          <a:xfrm>
            <a:off x="761999" y="4238567"/>
            <a:ext cx="773114" cy="807343"/>
            <a:chOff x="10240126" y="2399244"/>
            <a:chExt cx="773114" cy="80734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CAE286-B306-454C-B083-27816A223C13}"/>
                </a:ext>
              </a:extLst>
            </p:cNvPr>
            <p:cNvSpPr/>
            <p:nvPr/>
          </p:nvSpPr>
          <p:spPr>
            <a:xfrm>
              <a:off x="10240126" y="2433473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Programmer">
              <a:extLst>
                <a:ext uri="{FF2B5EF4-FFF2-40B4-BE49-F238E27FC236}">
                  <a16:creationId xmlns:a16="http://schemas.microsoft.com/office/drawing/2014/main" id="{61389AB4-2FE8-4EA2-9602-329187B75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82174" y="2399244"/>
              <a:ext cx="689017" cy="689017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B170EA-D6CD-475F-8A94-59B730806523}"/>
              </a:ext>
            </a:extLst>
          </p:cNvPr>
          <p:cNvGrpSpPr/>
          <p:nvPr/>
        </p:nvGrpSpPr>
        <p:grpSpPr>
          <a:xfrm>
            <a:off x="761999" y="5380031"/>
            <a:ext cx="773114" cy="773114"/>
            <a:chOff x="10087726" y="3460696"/>
            <a:chExt cx="773114" cy="77311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E0DDAC-34B7-46D0-944A-399F1BF9865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Graphic 17" descr="Upward trend">
              <a:extLst>
                <a:ext uri="{FF2B5EF4-FFF2-40B4-BE49-F238E27FC236}">
                  <a16:creationId xmlns:a16="http://schemas.microsoft.com/office/drawing/2014/main" id="{CC838237-0929-4BAE-96E6-8FDD68F76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59D0A-A228-4CFB-AC39-A85329E2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88DC9-F4E8-47F1-9962-A9BAFBD1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819287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F3291-C828-47D2-AD26-3A7F7FFB08A8}"/>
              </a:ext>
            </a:extLst>
          </p:cNvPr>
          <p:cNvGrpSpPr/>
          <p:nvPr/>
        </p:nvGrpSpPr>
        <p:grpSpPr>
          <a:xfrm>
            <a:off x="335775" y="484876"/>
            <a:ext cx="1004849" cy="1004849"/>
            <a:chOff x="10087726" y="3460696"/>
            <a:chExt cx="773114" cy="77311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41BBDF-E81D-4018-B8CC-6B51B1EF104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Upward trend">
              <a:extLst>
                <a:ext uri="{FF2B5EF4-FFF2-40B4-BE49-F238E27FC236}">
                  <a16:creationId xmlns:a16="http://schemas.microsoft.com/office/drawing/2014/main" id="{6FFDAD5C-5DD1-41E1-89EB-1A690B06E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Home Value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2053046"/>
            <a:ext cx="10515600" cy="4303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does it mean? (based on Zillow’s definition)</a:t>
            </a:r>
          </a:p>
          <a:p>
            <a:endParaRPr lang="en-US" dirty="0"/>
          </a:p>
          <a:p>
            <a:r>
              <a:rPr lang="en-US" dirty="0"/>
              <a:t>Insight on typical expected home values</a:t>
            </a:r>
          </a:p>
          <a:p>
            <a:endParaRPr lang="en-US" dirty="0"/>
          </a:p>
          <a:p>
            <a:r>
              <a:rPr lang="en-US" dirty="0"/>
              <a:t>Insight on housing market at a given time</a:t>
            </a:r>
          </a:p>
          <a:p>
            <a:endParaRPr lang="en-US" dirty="0"/>
          </a:p>
          <a:p>
            <a:r>
              <a:rPr lang="en-US" dirty="0"/>
              <a:t>Appreciation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D797-ECAA-49BF-B08E-C5D1C515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3DD5-8C52-435D-BDDF-6A8565DD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</p:spTree>
    <p:extLst>
      <p:ext uri="{BB962C8B-B14F-4D97-AF65-F5344CB8AC3E}">
        <p14:creationId xmlns:p14="http://schemas.microsoft.com/office/powerpoint/2010/main" val="367715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F3291-C828-47D2-AD26-3A7F7FFB08A8}"/>
              </a:ext>
            </a:extLst>
          </p:cNvPr>
          <p:cNvGrpSpPr/>
          <p:nvPr/>
        </p:nvGrpSpPr>
        <p:grpSpPr>
          <a:xfrm>
            <a:off x="335775" y="484876"/>
            <a:ext cx="1004849" cy="1004849"/>
            <a:chOff x="10087726" y="3460696"/>
            <a:chExt cx="773114" cy="77311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41BBDF-E81D-4018-B8CC-6B51B1EF104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Upward trend">
              <a:extLst>
                <a:ext uri="{FF2B5EF4-FFF2-40B4-BE49-F238E27FC236}">
                  <a16:creationId xmlns:a16="http://schemas.microsoft.com/office/drawing/2014/main" id="{6FFDAD5C-5DD1-41E1-89EB-1A690B06E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Home Value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2053046"/>
            <a:ext cx="10515600" cy="4303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is it defined: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D797-ECAA-49BF-B08E-C5D1C515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3DD5-8C52-435D-BDDF-6A8565DD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B1ECFF5D-E45A-4805-B5EB-8477D3DC5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0" y="3429000"/>
            <a:ext cx="2857500" cy="1447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48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F3291-C828-47D2-AD26-3A7F7FFB08A8}"/>
              </a:ext>
            </a:extLst>
          </p:cNvPr>
          <p:cNvGrpSpPr/>
          <p:nvPr/>
        </p:nvGrpSpPr>
        <p:grpSpPr>
          <a:xfrm>
            <a:off x="335775" y="484876"/>
            <a:ext cx="1004849" cy="1004849"/>
            <a:chOff x="10087726" y="3460696"/>
            <a:chExt cx="773114" cy="77311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41BBDF-E81D-4018-B8CC-6B51B1EF104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Upward trend">
              <a:extLst>
                <a:ext uri="{FF2B5EF4-FFF2-40B4-BE49-F238E27FC236}">
                  <a16:creationId xmlns:a16="http://schemas.microsoft.com/office/drawing/2014/main" id="{6FFDAD5C-5DD1-41E1-89EB-1A690B06E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Home Value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39" y="2053046"/>
            <a:ext cx="10515600" cy="4303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is it defined: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D797-ECAA-49BF-B08E-C5D1C515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3DD5-8C52-435D-BDDF-6A8565DD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AF14208F-8295-47DD-993C-050DE0B95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824" y="2053046"/>
            <a:ext cx="2951135" cy="10882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11EAF248-47FC-49BE-815B-DA10DD6C4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452" y="1952625"/>
            <a:ext cx="2857500" cy="1476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>
            <a:extLst>
              <a:ext uri="{FF2B5EF4-FFF2-40B4-BE49-F238E27FC236}">
                <a16:creationId xmlns:a16="http://schemas.microsoft.com/office/drawing/2014/main" id="{7413B4B1-04FE-4BB3-9395-511590D8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4335473"/>
            <a:ext cx="2857500" cy="13620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FD50D77-C989-4080-9EB5-81F79DF50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3484572"/>
            <a:ext cx="2857500" cy="1447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A44487-1531-4B07-A708-FB266D8F42D3}"/>
              </a:ext>
            </a:extLst>
          </p:cNvPr>
          <p:cNvCxnSpPr>
            <a:stCxn id="17412" idx="2"/>
            <a:endCxn id="17416" idx="0"/>
          </p:cNvCxnSpPr>
          <p:nvPr/>
        </p:nvCxnSpPr>
        <p:spPr>
          <a:xfrm>
            <a:off x="6810392" y="3141277"/>
            <a:ext cx="2295508" cy="1194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357B43-903C-463E-852D-354B95640F60}"/>
              </a:ext>
            </a:extLst>
          </p:cNvPr>
          <p:cNvCxnSpPr>
            <a:stCxn id="17414" idx="2"/>
            <a:endCxn id="17416" idx="0"/>
          </p:cNvCxnSpPr>
          <p:nvPr/>
        </p:nvCxnSpPr>
        <p:spPr>
          <a:xfrm flipH="1">
            <a:off x="9105900" y="3429000"/>
            <a:ext cx="1157302" cy="906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53B58F-5F3B-4BD6-9DCC-B9F693EAFE21}"/>
              </a:ext>
            </a:extLst>
          </p:cNvPr>
          <p:cNvCxnSpPr>
            <a:stCxn id="17416" idx="1"/>
            <a:endCxn id="13" idx="3"/>
          </p:cNvCxnSpPr>
          <p:nvPr/>
        </p:nvCxnSpPr>
        <p:spPr>
          <a:xfrm flipH="1" flipV="1">
            <a:off x="3917950" y="4208472"/>
            <a:ext cx="3759200" cy="808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306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F3291-C828-47D2-AD26-3A7F7FFB08A8}"/>
              </a:ext>
            </a:extLst>
          </p:cNvPr>
          <p:cNvGrpSpPr/>
          <p:nvPr/>
        </p:nvGrpSpPr>
        <p:grpSpPr>
          <a:xfrm>
            <a:off x="335775" y="484876"/>
            <a:ext cx="1004849" cy="1004849"/>
            <a:chOff x="10087726" y="3460696"/>
            <a:chExt cx="773114" cy="77311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41BBDF-E81D-4018-B8CC-6B51B1EF104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Upward trend">
              <a:extLst>
                <a:ext uri="{FF2B5EF4-FFF2-40B4-BE49-F238E27FC236}">
                  <a16:creationId xmlns:a16="http://schemas.microsoft.com/office/drawing/2014/main" id="{6FFDAD5C-5DD1-41E1-89EB-1A690B06E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Home Value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053046"/>
            <a:ext cx="3110005" cy="524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is it defined: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D797-ECAA-49BF-B08E-C5D1C515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3DD5-8C52-435D-BDDF-6A8565DD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AF14208F-8295-47DD-993C-050DE0B95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40" y="3429000"/>
            <a:ext cx="2951135" cy="10882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11EAF248-47FC-49BE-815B-DA10DD6C4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577" y="3285331"/>
            <a:ext cx="2857500" cy="1476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>
            <a:extLst>
              <a:ext uri="{FF2B5EF4-FFF2-40B4-BE49-F238E27FC236}">
                <a16:creationId xmlns:a16="http://schemas.microsoft.com/office/drawing/2014/main" id="{7413B4B1-04FE-4BB3-9395-511590D8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016510"/>
            <a:ext cx="2857500" cy="13620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FD50D77-C989-4080-9EB5-81F79DF50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4973648"/>
            <a:ext cx="2857500" cy="1447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A44487-1531-4B07-A708-FB266D8F42D3}"/>
              </a:ext>
            </a:extLst>
          </p:cNvPr>
          <p:cNvCxnSpPr>
            <a:stCxn id="17412" idx="2"/>
            <a:endCxn id="17416" idx="0"/>
          </p:cNvCxnSpPr>
          <p:nvPr/>
        </p:nvCxnSpPr>
        <p:spPr>
          <a:xfrm>
            <a:off x="5334808" y="4517231"/>
            <a:ext cx="2189942" cy="499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357B43-903C-463E-852D-354B95640F60}"/>
              </a:ext>
            </a:extLst>
          </p:cNvPr>
          <p:cNvCxnSpPr>
            <a:stCxn id="17414" idx="2"/>
            <a:endCxn id="17416" idx="0"/>
          </p:cNvCxnSpPr>
          <p:nvPr/>
        </p:nvCxnSpPr>
        <p:spPr>
          <a:xfrm flipH="1">
            <a:off x="7524750" y="4761706"/>
            <a:ext cx="1298577" cy="254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53B58F-5F3B-4BD6-9DCC-B9F693EAFE21}"/>
              </a:ext>
            </a:extLst>
          </p:cNvPr>
          <p:cNvCxnSpPr>
            <a:stCxn id="17416" idx="1"/>
            <a:endCxn id="13" idx="3"/>
          </p:cNvCxnSpPr>
          <p:nvPr/>
        </p:nvCxnSpPr>
        <p:spPr>
          <a:xfrm flipH="1">
            <a:off x="4375150" y="5697548"/>
            <a:ext cx="1720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303F742-7670-4481-9E2C-42E72C20D89C}"/>
              </a:ext>
            </a:extLst>
          </p:cNvPr>
          <p:cNvSpPr/>
          <p:nvPr/>
        </p:nvSpPr>
        <p:spPr>
          <a:xfrm>
            <a:off x="7286228" y="1976396"/>
            <a:ext cx="2648743" cy="840561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034995-AF34-4887-861F-D354694DE64C}"/>
              </a:ext>
            </a:extLst>
          </p:cNvPr>
          <p:cNvSpPr/>
          <p:nvPr/>
        </p:nvSpPr>
        <p:spPr>
          <a:xfrm>
            <a:off x="4010435" y="1972489"/>
            <a:ext cx="2648743" cy="840561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XGBoost</a:t>
            </a:r>
            <a:r>
              <a:rPr lang="en-US" dirty="0">
                <a:solidFill>
                  <a:schemeClr val="tx1"/>
                </a:solidFill>
              </a:rPr>
              <a:t> Prediction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B4204DC-C2C4-469C-9FC1-DE7287470B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8658" y="2182781"/>
            <a:ext cx="571580" cy="38105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410AFF-487B-4F8F-A4BA-14D4B20CD9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2419" y="2198660"/>
            <a:ext cx="809738" cy="323895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D7EC14-7FCC-4F7B-A08B-0CDD3BF666F5}"/>
              </a:ext>
            </a:extLst>
          </p:cNvPr>
          <p:cNvCxnSpPr>
            <a:stCxn id="24" idx="3"/>
            <a:endCxn id="20" idx="1"/>
          </p:cNvCxnSpPr>
          <p:nvPr/>
        </p:nvCxnSpPr>
        <p:spPr>
          <a:xfrm>
            <a:off x="6659178" y="2392770"/>
            <a:ext cx="627050" cy="3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88FF54-6456-4831-8544-496369C83155}"/>
              </a:ext>
            </a:extLst>
          </p:cNvPr>
          <p:cNvCxnSpPr>
            <a:stCxn id="20" idx="2"/>
            <a:endCxn id="17414" idx="0"/>
          </p:cNvCxnSpPr>
          <p:nvPr/>
        </p:nvCxnSpPr>
        <p:spPr>
          <a:xfrm>
            <a:off x="8610600" y="2816957"/>
            <a:ext cx="212727" cy="468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73A27CC-5C65-4295-BAC8-75113B8546BB}"/>
              </a:ext>
            </a:extLst>
          </p:cNvPr>
          <p:cNvCxnSpPr/>
          <p:nvPr/>
        </p:nvCxnSpPr>
        <p:spPr>
          <a:xfrm flipH="1">
            <a:off x="5334808" y="2816957"/>
            <a:ext cx="3275792" cy="612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105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F3291-C828-47D2-AD26-3A7F7FFB08A8}"/>
              </a:ext>
            </a:extLst>
          </p:cNvPr>
          <p:cNvGrpSpPr/>
          <p:nvPr/>
        </p:nvGrpSpPr>
        <p:grpSpPr>
          <a:xfrm>
            <a:off x="335775" y="484876"/>
            <a:ext cx="1004849" cy="1004849"/>
            <a:chOff x="10087726" y="3460696"/>
            <a:chExt cx="773114" cy="77311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41BBDF-E81D-4018-B8CC-6B51B1EF104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Upward trend">
              <a:extLst>
                <a:ext uri="{FF2B5EF4-FFF2-40B4-BE49-F238E27FC236}">
                  <a16:creationId xmlns:a16="http://schemas.microsoft.com/office/drawing/2014/main" id="{6FFDAD5C-5DD1-41E1-89EB-1A690B06E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Home Value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053046"/>
            <a:ext cx="3110005" cy="4690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How is it defined: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D797-ECAA-49BF-B08E-C5D1C515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3DD5-8C52-435D-BDDF-6A8565DD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AF14208F-8295-47DD-993C-050DE0B95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40" y="3429000"/>
            <a:ext cx="2951135" cy="10882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11EAF248-47FC-49BE-815B-DA10DD6C4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577" y="3285331"/>
            <a:ext cx="2857500" cy="1476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>
            <a:extLst>
              <a:ext uri="{FF2B5EF4-FFF2-40B4-BE49-F238E27FC236}">
                <a16:creationId xmlns:a16="http://schemas.microsoft.com/office/drawing/2014/main" id="{7413B4B1-04FE-4BB3-9395-511590D83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016510"/>
            <a:ext cx="2857500" cy="13620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FD50D77-C989-4080-9EB5-81F79DF50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4973648"/>
            <a:ext cx="2857500" cy="1447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A44487-1531-4B07-A708-FB266D8F42D3}"/>
              </a:ext>
            </a:extLst>
          </p:cNvPr>
          <p:cNvCxnSpPr>
            <a:stCxn id="17412" idx="2"/>
            <a:endCxn id="17416" idx="0"/>
          </p:cNvCxnSpPr>
          <p:nvPr/>
        </p:nvCxnSpPr>
        <p:spPr>
          <a:xfrm>
            <a:off x="5334808" y="4517231"/>
            <a:ext cx="2189942" cy="499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357B43-903C-463E-852D-354B95640F60}"/>
              </a:ext>
            </a:extLst>
          </p:cNvPr>
          <p:cNvCxnSpPr>
            <a:stCxn id="17414" idx="2"/>
            <a:endCxn id="17416" idx="0"/>
          </p:cNvCxnSpPr>
          <p:nvPr/>
        </p:nvCxnSpPr>
        <p:spPr>
          <a:xfrm flipH="1">
            <a:off x="7524750" y="4761706"/>
            <a:ext cx="1298577" cy="254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53B58F-5F3B-4BD6-9DCC-B9F693EAFE21}"/>
              </a:ext>
            </a:extLst>
          </p:cNvPr>
          <p:cNvCxnSpPr>
            <a:stCxn id="17416" idx="1"/>
            <a:endCxn id="13" idx="3"/>
          </p:cNvCxnSpPr>
          <p:nvPr/>
        </p:nvCxnSpPr>
        <p:spPr>
          <a:xfrm flipH="1">
            <a:off x="4375150" y="5697548"/>
            <a:ext cx="1720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303F742-7670-4481-9E2C-42E72C20D89C}"/>
              </a:ext>
            </a:extLst>
          </p:cNvPr>
          <p:cNvSpPr/>
          <p:nvPr/>
        </p:nvSpPr>
        <p:spPr>
          <a:xfrm>
            <a:off x="7286228" y="1976396"/>
            <a:ext cx="2648743" cy="840561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034995-AF34-4887-861F-D354694DE64C}"/>
              </a:ext>
            </a:extLst>
          </p:cNvPr>
          <p:cNvSpPr/>
          <p:nvPr/>
        </p:nvSpPr>
        <p:spPr>
          <a:xfrm>
            <a:off x="4010435" y="1972489"/>
            <a:ext cx="2648743" cy="840561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XGBoost</a:t>
            </a:r>
            <a:r>
              <a:rPr lang="en-US" dirty="0">
                <a:solidFill>
                  <a:schemeClr val="tx1"/>
                </a:solidFill>
              </a:rPr>
              <a:t> Prediction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B4204DC-C2C4-469C-9FC1-DE7287470B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8658" y="2182781"/>
            <a:ext cx="571580" cy="38105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410AFF-487B-4F8F-A4BA-14D4B20CD9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2419" y="2198660"/>
            <a:ext cx="809738" cy="323895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D7EC14-7FCC-4F7B-A08B-0CDD3BF666F5}"/>
              </a:ext>
            </a:extLst>
          </p:cNvPr>
          <p:cNvCxnSpPr>
            <a:stCxn id="24" idx="3"/>
            <a:endCxn id="20" idx="1"/>
          </p:cNvCxnSpPr>
          <p:nvPr/>
        </p:nvCxnSpPr>
        <p:spPr>
          <a:xfrm>
            <a:off x="6659178" y="2392770"/>
            <a:ext cx="627050" cy="3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88FF54-6456-4831-8544-496369C83155}"/>
              </a:ext>
            </a:extLst>
          </p:cNvPr>
          <p:cNvCxnSpPr>
            <a:stCxn id="20" idx="2"/>
            <a:endCxn id="17414" idx="0"/>
          </p:cNvCxnSpPr>
          <p:nvPr/>
        </p:nvCxnSpPr>
        <p:spPr>
          <a:xfrm>
            <a:off x="8610600" y="2816957"/>
            <a:ext cx="212727" cy="468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EAE998B-8569-4026-9B53-0129AED4336B}"/>
              </a:ext>
            </a:extLst>
          </p:cNvPr>
          <p:cNvSpPr/>
          <p:nvPr/>
        </p:nvSpPr>
        <p:spPr>
          <a:xfrm>
            <a:off x="1159978" y="3146842"/>
            <a:ext cx="1559889" cy="1263485"/>
          </a:xfrm>
          <a:prstGeom prst="rect">
            <a:avLst/>
          </a:prstGeom>
          <a:solidFill>
            <a:srgbClr val="F2F2F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Moving average using previous 24 months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E636C0-F8DF-4EDA-94D1-566F94AB605F}"/>
              </a:ext>
            </a:extLst>
          </p:cNvPr>
          <p:cNvCxnSpPr>
            <a:stCxn id="13" idx="0"/>
            <a:endCxn id="23" idx="2"/>
          </p:cNvCxnSpPr>
          <p:nvPr/>
        </p:nvCxnSpPr>
        <p:spPr>
          <a:xfrm flipH="1" flipV="1">
            <a:off x="1939923" y="4410327"/>
            <a:ext cx="1006477" cy="56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2917C1-45F7-47B2-B3E1-F7167D959B23}"/>
              </a:ext>
            </a:extLst>
          </p:cNvPr>
          <p:cNvCxnSpPr>
            <a:stCxn id="20" idx="2"/>
            <a:endCxn id="17412" idx="0"/>
          </p:cNvCxnSpPr>
          <p:nvPr/>
        </p:nvCxnSpPr>
        <p:spPr>
          <a:xfrm flipH="1">
            <a:off x="5334808" y="2816957"/>
            <a:ext cx="3275792" cy="612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18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F3291-C828-47D2-AD26-3A7F7FFB08A8}"/>
              </a:ext>
            </a:extLst>
          </p:cNvPr>
          <p:cNvGrpSpPr/>
          <p:nvPr/>
        </p:nvGrpSpPr>
        <p:grpSpPr>
          <a:xfrm>
            <a:off x="335775" y="484876"/>
            <a:ext cx="1004849" cy="1004849"/>
            <a:chOff x="10087726" y="3460696"/>
            <a:chExt cx="773114" cy="77311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41BBDF-E81D-4018-B8CC-6B51B1EF1046}"/>
                </a:ext>
              </a:extLst>
            </p:cNvPr>
            <p:cNvSpPr/>
            <p:nvPr/>
          </p:nvSpPr>
          <p:spPr>
            <a:xfrm>
              <a:off x="10087726" y="3460696"/>
              <a:ext cx="773114" cy="7731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Upward trend">
              <a:extLst>
                <a:ext uri="{FF2B5EF4-FFF2-40B4-BE49-F238E27FC236}">
                  <a16:creationId xmlns:a16="http://schemas.microsoft.com/office/drawing/2014/main" id="{6FFDAD5C-5DD1-41E1-89EB-1A690B06E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71960" y="3544930"/>
              <a:ext cx="604646" cy="60464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1D1236-E6BC-46A1-A9F9-7205076A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F0C2-BE6F-4544-8C91-B6D69E1A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53046"/>
            <a:ext cx="3073400" cy="4303304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D797-ECAA-49BF-B08E-C5D1C515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3DD5-8C52-435D-BDDF-6A8565DD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F0BF8C1C-0838-404F-ADD8-AD1F956D0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612" y="2273300"/>
            <a:ext cx="5717202" cy="364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542D624-37E9-45AA-B9E6-2AA94A9CF4F3}"/>
              </a:ext>
            </a:extLst>
          </p:cNvPr>
          <p:cNvSpPr txBox="1">
            <a:spLocks/>
          </p:cNvSpPr>
          <p:nvPr/>
        </p:nvSpPr>
        <p:spPr>
          <a:xfrm>
            <a:off x="508000" y="2053046"/>
            <a:ext cx="5181600" cy="432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Monthly time series of index</a:t>
            </a:r>
          </a:p>
          <a:p>
            <a:endParaRPr lang="en-US" dirty="0"/>
          </a:p>
          <a:p>
            <a:r>
              <a:rPr lang="en-US" dirty="0"/>
              <a:t>Extract key economic features</a:t>
            </a:r>
          </a:p>
          <a:p>
            <a:pPr lvl="1"/>
            <a:r>
              <a:rPr lang="en-US" dirty="0"/>
              <a:t>Late 1930s housing boom</a:t>
            </a:r>
          </a:p>
          <a:p>
            <a:pPr lvl="1"/>
            <a:r>
              <a:rPr lang="en-US" dirty="0"/>
              <a:t>1990 housing crisis</a:t>
            </a:r>
          </a:p>
          <a:p>
            <a:pPr lvl="1"/>
            <a:r>
              <a:rPr lang="en-US" dirty="0"/>
              <a:t>Dot-com bubble</a:t>
            </a:r>
          </a:p>
          <a:p>
            <a:pPr lvl="1"/>
            <a:r>
              <a:rPr lang="en-US" dirty="0"/>
              <a:t>2007 housing bubble</a:t>
            </a:r>
          </a:p>
          <a:p>
            <a:pPr lvl="1"/>
            <a:r>
              <a:rPr lang="en-US" dirty="0"/>
              <a:t>2007 housing recovery</a:t>
            </a:r>
          </a:p>
          <a:p>
            <a:pPr lvl="1"/>
            <a:r>
              <a:rPr lang="en-US" dirty="0"/>
              <a:t>2020 pandemic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20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43FA-55B1-45EC-9459-FF744C3D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CDAA-55D8-4FC8-8B40-BD926C255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Model needs further development and validation</a:t>
            </a:r>
          </a:p>
          <a:p>
            <a:endParaRPr lang="en-US" dirty="0"/>
          </a:p>
          <a:p>
            <a:r>
              <a:rPr lang="en-US" dirty="0"/>
              <a:t>Must relax certain model assumptions</a:t>
            </a:r>
          </a:p>
          <a:p>
            <a:endParaRPr lang="en-US" dirty="0"/>
          </a:p>
          <a:p>
            <a:r>
              <a:rPr lang="en-US" dirty="0"/>
              <a:t>Allegheny county real estate has historically been a good long-term investment</a:t>
            </a:r>
          </a:p>
          <a:p>
            <a:endParaRPr lang="en-US" dirty="0"/>
          </a:p>
          <a:p>
            <a:r>
              <a:rPr lang="en-US" dirty="0"/>
              <a:t>Based on recent trends I would advise not investing in the housing stock of Allegheny county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160D5-045B-4251-9DA5-BBE86344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A1A89-E093-4174-8F9E-1643C649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74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7F810C-F03F-4C6A-A7E3-BD0BBF3364F5}"/>
              </a:ext>
            </a:extLst>
          </p:cNvPr>
          <p:cNvSpPr/>
          <p:nvPr/>
        </p:nvSpPr>
        <p:spPr>
          <a:xfrm>
            <a:off x="0" y="-1"/>
            <a:ext cx="12192000" cy="1690689"/>
          </a:xfrm>
          <a:prstGeom prst="rect">
            <a:avLst/>
          </a:prstGeom>
          <a:gradFill flip="none" rotWithShape="1">
            <a:gsLst>
              <a:gs pos="0">
                <a:srgbClr val="156091"/>
              </a:gs>
              <a:gs pos="53000">
                <a:srgbClr val="157C74"/>
              </a:gs>
              <a:gs pos="100000">
                <a:srgbClr val="159759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31AF5-42D7-4BE0-AB94-82180B9D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0A00-4302-426A-B508-6077B03AE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1211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monthly HVI for each separate Zip code and create an index based on that</a:t>
            </a:r>
          </a:p>
          <a:p>
            <a:endParaRPr lang="en-US" dirty="0"/>
          </a:p>
          <a:p>
            <a:r>
              <a:rPr lang="en-US" dirty="0"/>
              <a:t>Implement a better geolocation scheme to refine location</a:t>
            </a:r>
          </a:p>
          <a:p>
            <a:endParaRPr lang="en-US" dirty="0"/>
          </a:p>
          <a:p>
            <a:r>
              <a:rPr lang="en-US" dirty="0"/>
              <a:t>Account for economic data such as interest rates into the model</a:t>
            </a:r>
          </a:p>
          <a:p>
            <a:endParaRPr lang="en-US" dirty="0"/>
          </a:p>
          <a:p>
            <a:r>
              <a:rPr lang="en-US" dirty="0"/>
              <a:t>Include additional sale data and historical assessment data from multiple listing service (MLS)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D4EB1-28D1-4185-859A-CD2642FD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http://fer.me/fidelity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75D-C586-4C58-83DC-F5E5895C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75C0-E578-49C5-9E26-26C338CB688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85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3B9263-7218-40B6-AE11-BD2F929AA159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gradFill flip="none" rotWithShape="1">
            <a:gsLst>
              <a:gs pos="0">
                <a:srgbClr val="156091"/>
              </a:gs>
              <a:gs pos="53000">
                <a:srgbClr val="157C74"/>
              </a:gs>
              <a:gs pos="100000">
                <a:srgbClr val="159759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EDDEE-2A2C-4A6F-B4B5-E80C6A46A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0700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</a:rPr>
              <a:t>Thank you for the opportunity!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54FC2-9E61-45AF-BCCE-86223D460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083796"/>
          </a:xfrm>
        </p:spPr>
        <p:txBody>
          <a:bodyPr/>
          <a:lstStyle/>
          <a:p>
            <a:r>
              <a:rPr lang="en-US" dirty="0">
                <a:latin typeface="Lato" panose="020F0502020204030203" pitchFamily="34" charset="0"/>
              </a:rPr>
              <a:t>For a Fidelity Management and Research Interview</a:t>
            </a:r>
          </a:p>
          <a:p>
            <a:r>
              <a:rPr lang="en-US" i="1" dirty="0">
                <a:latin typeface="Lato" panose="020F0502020204030203" pitchFamily="34" charset="0"/>
              </a:rPr>
              <a:t>Matheus C. Fernandes (PhD Candidate - Harvard University)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0C493-EF57-4B65-A989-76E93D49EDD6}"/>
              </a:ext>
            </a:extLst>
          </p:cNvPr>
          <p:cNvSpPr txBox="1"/>
          <p:nvPr/>
        </p:nvSpPr>
        <p:spPr>
          <a:xfrm>
            <a:off x="1960893" y="5967968"/>
            <a:ext cx="827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</a:rPr>
              <a:t>Please find more information and full code at </a:t>
            </a:r>
            <a:r>
              <a:rPr lang="en-US" dirty="0">
                <a:latin typeface="Lato" panose="020F0502020204030203" pitchFamily="34" charset="0"/>
                <a:hlinkClick r:id="rId2"/>
              </a:rPr>
              <a:t>https://git.fer.me/fidelity-interview</a:t>
            </a:r>
            <a:endParaRPr lang="en-US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492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2945</TotalTime>
  <Words>1616</Words>
  <Application>Microsoft Office PowerPoint</Application>
  <PresentationFormat>Widescreen</PresentationFormat>
  <Paragraphs>376</Paragraphs>
  <Slides>38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 Math</vt:lpstr>
      <vt:lpstr>charter</vt:lpstr>
      <vt:lpstr>Courier New</vt:lpstr>
      <vt:lpstr>Lato</vt:lpstr>
      <vt:lpstr>Office Theme</vt:lpstr>
      <vt:lpstr>Allegheny County Home Value Index Case Study</vt:lpstr>
      <vt:lpstr>About Allegheny County</vt:lpstr>
      <vt:lpstr>About the Allegheny County Dataset </vt:lpstr>
      <vt:lpstr>About the Allegheny County Dataset </vt:lpstr>
      <vt:lpstr>Goal of Analysis</vt:lpstr>
      <vt:lpstr>Structure of Data Science Workflow</vt:lpstr>
      <vt:lpstr>         Missing Data and Data Types</vt:lpstr>
      <vt:lpstr>         Missing Data and Data Types</vt:lpstr>
      <vt:lpstr>         Missing Data and Data Types</vt:lpstr>
      <vt:lpstr>         Missing Data and Data Types</vt:lpstr>
      <vt:lpstr>         Feature Engineering</vt:lpstr>
      <vt:lpstr>Structure of Data Science Workflow</vt:lpstr>
      <vt:lpstr>         Martingale?</vt:lpstr>
      <vt:lpstr>         Exploratory Data Analysis</vt:lpstr>
      <vt:lpstr>         Exploratory Data Analysis</vt:lpstr>
      <vt:lpstr>         Exploratory Data Analysis</vt:lpstr>
      <vt:lpstr>         Exploratory Data Analysis</vt:lpstr>
      <vt:lpstr>         Exploratory Data Analysis</vt:lpstr>
      <vt:lpstr>         Exploratory Data Analysis</vt:lpstr>
      <vt:lpstr>Structure of Data Science Workflow</vt:lpstr>
      <vt:lpstr>         Model Information</vt:lpstr>
      <vt:lpstr>         Model Information</vt:lpstr>
      <vt:lpstr>         Model Choices</vt:lpstr>
      <vt:lpstr>         Model Choices</vt:lpstr>
      <vt:lpstr>         What is XGBoost?</vt:lpstr>
      <vt:lpstr>         Another Level of Feature Selection</vt:lpstr>
      <vt:lpstr>         Another Level of Feature Selection</vt:lpstr>
      <vt:lpstr>         XGBoost Hyperparameter Tuning</vt:lpstr>
      <vt:lpstr>Structure of Data Science Workflow</vt:lpstr>
      <vt:lpstr>         Home Value Index</vt:lpstr>
      <vt:lpstr>         Home Value Index</vt:lpstr>
      <vt:lpstr>         Home Value Index</vt:lpstr>
      <vt:lpstr>         Home Value Index</vt:lpstr>
      <vt:lpstr>         Home Value Index</vt:lpstr>
      <vt:lpstr>         Results</vt:lpstr>
      <vt:lpstr>Conclusions and Recommendations</vt:lpstr>
      <vt:lpstr>Model Extension</vt:lpstr>
      <vt:lpstr>Thank you for the opportunity!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Alleghany County Housing Value Index Case Study</dc:title>
  <dc:creator>Matheus Fernandes</dc:creator>
  <cp:lastModifiedBy>Matheus Fernandes</cp:lastModifiedBy>
  <cp:revision>72</cp:revision>
  <dcterms:created xsi:type="dcterms:W3CDTF">2021-02-09T01:47:27Z</dcterms:created>
  <dcterms:modified xsi:type="dcterms:W3CDTF">2021-02-16T19:33:39Z</dcterms:modified>
</cp:coreProperties>
</file>